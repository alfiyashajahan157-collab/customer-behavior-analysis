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6403"/>
            <a:ext cx="7556421" cy="5670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Shopping Behavior Analysis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675727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3,900 purchases to drive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4984"/>
            <a:ext cx="6450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98727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01906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63816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198727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301906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3509486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Features per customer transaction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1987272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50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301906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3509486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coverage nationwide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407093" y="551949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25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3407093" y="655129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07093" y="7041713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Unique items tracked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9300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Preparation Journey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48768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using pandas, analyzed structure with df.info() and summary statistics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48995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Cleaning &amp; Standardization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Handled 37 missing review ratings, standardized columns to snake_case format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35847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age_group bins and purchase_frequency_days columns for deeper analysis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38669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to PostgreSQL, loaded cleaned data for SQL business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97906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Insights by Gender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17488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E3E33"/>
          </a:solidFill>
          <a:ln/>
        </p:spPr>
      </p:sp>
      <p:sp>
        <p:nvSpPr>
          <p:cNvPr id="5" name="Text 2"/>
          <p:cNvSpPr/>
          <p:nvPr/>
        </p:nvSpPr>
        <p:spPr>
          <a:xfrm>
            <a:off x="4005262" y="6541651"/>
            <a:ext cx="5144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DC5A1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647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 68% of total revenue, representing significant market dominance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406741"/>
            <a:ext cx="4885015" cy="1689616"/>
          </a:xfrm>
          <a:prstGeom prst="roundRect">
            <a:avLst>
              <a:gd name="adj" fmla="val 5638"/>
            </a:avLst>
          </a:prstGeom>
          <a:solidFill>
            <a:srgbClr val="C1F1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758452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690229"/>
            <a:ext cx="39210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 targeted campaigns to increase female customer engagement and spending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744"/>
            <a:ext cx="90036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Top-Performing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53151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5875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77463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rated: 3.86 stars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353151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5875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77463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place: 3.84 stars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353151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5875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77463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494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985260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performer: 3.82 stars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809411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44151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Popular choice: 3.80 stars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809411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644151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five: 3.78 stars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120284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Segmentation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14288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14288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17529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1752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BCDBD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17467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17467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80% of customers classified as Loyal, demonstrating strong retention and repeat purchase behavior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300" y="540782"/>
            <a:ext cx="9185315" cy="614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Shipping &amp; Spending Patterns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8300" y="1646753"/>
            <a:ext cx="266021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Express Shipping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8300" y="2150626"/>
            <a:ext cx="6386989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$60.48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8300" y="2642235"/>
            <a:ext cx="6386989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 service attracts higher-value purchases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62731" y="1646753"/>
            <a:ext cx="2896910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Standard Shipping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562731" y="2150626"/>
            <a:ext cx="6386989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$58.46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62731" y="2642235"/>
            <a:ext cx="6386989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Cost-conscious customers with solid baseline spending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8300" y="3453282"/>
            <a:ext cx="13253799" cy="32147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05796" y="4984671"/>
            <a:ext cx="2418874" cy="491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50%</a:t>
            </a:r>
            <a:endParaRPr lang="en-US" sz="3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406" y="3755588"/>
            <a:ext cx="2949893" cy="29498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98984" y="6951107"/>
            <a:ext cx="2832735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Hat Discount Rate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88300" y="7376398"/>
            <a:ext cx="425410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discount dependency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05644" y="4984671"/>
            <a:ext cx="2418874" cy="491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49.7%</a:t>
            </a:r>
            <a:endParaRPr lang="en-US" sz="3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254" y="3755588"/>
            <a:ext cx="2949893" cy="29498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85999" y="6951107"/>
            <a:ext cx="245828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Sneakers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188148" y="7376398"/>
            <a:ext cx="425410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most discounted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605492" y="4984671"/>
            <a:ext cx="2418874" cy="491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49.1%</a:t>
            </a:r>
            <a:endParaRPr lang="en-US" sz="38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102" y="3755588"/>
            <a:ext cx="2949893" cy="29498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85847" y="6951107"/>
            <a:ext cx="245828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Coat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9687997" y="7376398"/>
            <a:ext cx="4254103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Heavy promotion reliance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657" y="389453"/>
            <a:ext cx="7343537" cy="44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Subscription Status Comparison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57" y="1115139"/>
            <a:ext cx="13639086" cy="72129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65069" y="8328065"/>
            <a:ext cx="141565" cy="141565"/>
          </a:xfrm>
          <a:prstGeom prst="roundRect">
            <a:avLst>
              <a:gd name="adj" fmla="val 12918"/>
            </a:avLst>
          </a:prstGeom>
          <a:solidFill>
            <a:srgbClr val="0E3E33"/>
          </a:solidFill>
          <a:ln/>
        </p:spPr>
      </p:sp>
      <p:sp>
        <p:nvSpPr>
          <p:cNvPr id="5" name="Text 2"/>
          <p:cNvSpPr/>
          <p:nvPr/>
        </p:nvSpPr>
        <p:spPr>
          <a:xfrm>
            <a:off x="6467594" y="8328065"/>
            <a:ext cx="771406" cy="14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91400" y="8328065"/>
            <a:ext cx="141565" cy="141565"/>
          </a:xfrm>
          <a:prstGeom prst="roundRect">
            <a:avLst>
              <a:gd name="adj" fmla="val 12918"/>
            </a:avLst>
          </a:prstGeom>
          <a:solidFill>
            <a:srgbClr val="196E5A"/>
          </a:solidFill>
          <a:ln/>
        </p:spPr>
      </p:sp>
      <p:sp>
        <p:nvSpPr>
          <p:cNvPr id="7" name="Text 4"/>
          <p:cNvSpPr/>
          <p:nvPr/>
        </p:nvSpPr>
        <p:spPr>
          <a:xfrm>
            <a:off x="7593925" y="8328065"/>
            <a:ext cx="1095494" cy="14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5657" y="9053870"/>
            <a:ext cx="2050137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Subscribers: 1,053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5657" y="9416653"/>
            <a:ext cx="6646783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 spending per transaction but lower total volume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5580" y="9053870"/>
            <a:ext cx="2607707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Non-Subscribers: 2,847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5580" y="9416653"/>
            <a:ext cx="6646783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73% of customer base drives majority of revenue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34102"/>
            <a:ext cx="7595592" cy="49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Age Demographics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243013"/>
            <a:ext cx="13525500" cy="7574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2450" y="8994815"/>
            <a:ext cx="13525500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 generation, followed closely by Middle-aged customers. Balanced distribution across all age segments.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9310"/>
            <a:ext cx="103178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1718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11718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6901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413760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convert non-subscribers and increase recurring revenue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11718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311718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569012"/>
            <a:ext cx="31901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059430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strengthen the 80% loyal customer base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311718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311718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56901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413760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50% discount rates on key products with margin control strategies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86576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98657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5243870"/>
            <a:ext cx="35203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73428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items (Gloves, Sandals, Boots) in marketing campaigns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986576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98657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5243870"/>
            <a:ext cx="35577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73428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Young Adults and express-shipping users for maximum ROI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2025-11-09T16:10:28Z</dcterms:created>
  <dcterms:modified xsi:type="dcterms:W3CDTF">2025-11-09T16:10:28Z</dcterms:modified>
</cp:coreProperties>
</file>